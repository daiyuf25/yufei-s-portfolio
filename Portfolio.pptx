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fb6ccdc720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fb6ccdc720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fa0eca28c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fa0eca28c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solar panel is used to charge a 3.7V battery. </a:t>
            </a:r>
            <a:r>
              <a:rPr lang="en">
                <a:solidFill>
                  <a:srgbClr val="0D0D0D"/>
                </a:solidFill>
              </a:rPr>
              <a:t>The converter increases the battery voltage to 5V for phone charging.</a:t>
            </a:r>
            <a:r>
              <a:rPr lang="en" sz="1000">
                <a:solidFill>
                  <a:schemeClr val="dk1"/>
                </a:solidFill>
              </a:rPr>
              <a:t> The phone only accepts voltages around 5V. </a:t>
            </a:r>
            <a:r>
              <a:rPr lang="en">
                <a:solidFill>
                  <a:srgbClr val="0D0D0D"/>
                </a:solidFill>
              </a:rPr>
              <a:t>A diode is placed between the solar panel and the battery to prevent current from flowing out of the battery and back into the solar panel when it is dark. This is called reverse current which can damage the solar panel.</a:t>
            </a:r>
            <a:r>
              <a:rPr lang="en" sz="1000">
                <a:solidFill>
                  <a:schemeClr val="dk1"/>
                </a:solidFill>
              </a:rPr>
              <a:t> </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a:solidFill>
                  <a:schemeClr val="dk1"/>
                </a:solidFill>
              </a:rPr>
              <a:t>On the right is a picture of the device in action.</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fa0eca28c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fa0eca28c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fb7ddef494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fb7ddef494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High Level Overview</a:t>
            </a:r>
            <a:endParaRPr/>
          </a:p>
          <a:p>
            <a:pPr indent="-298450" lvl="0" marL="457200" rtl="0" algn="l">
              <a:spcBef>
                <a:spcPts val="0"/>
              </a:spcBef>
              <a:spcAft>
                <a:spcPts val="0"/>
              </a:spcAft>
              <a:buSzPts val="1100"/>
              <a:buChar char="-"/>
            </a:pPr>
            <a:r>
              <a:rPr lang="en"/>
              <a:t>TOGGLE switch and LIMIT switch send signals to the Arduino</a:t>
            </a:r>
            <a:endParaRPr/>
          </a:p>
          <a:p>
            <a:pPr indent="-298450" lvl="0" marL="457200" rtl="0" algn="l">
              <a:spcBef>
                <a:spcPts val="0"/>
              </a:spcBef>
              <a:spcAft>
                <a:spcPts val="0"/>
              </a:spcAft>
              <a:buSzPts val="1100"/>
              <a:buChar char="-"/>
            </a:pPr>
            <a:r>
              <a:rPr lang="en"/>
              <a:t>The Arduino uses the signals from the switches to determine signals to send out from pins 2 and 3</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fb7ddef49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fb7ddef49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setup()</a:t>
            </a:r>
            <a:endParaRPr/>
          </a:p>
          <a:p>
            <a:pPr indent="-298450" lvl="0" marL="457200" rtl="0" algn="l">
              <a:spcBef>
                <a:spcPts val="0"/>
              </a:spcBef>
              <a:spcAft>
                <a:spcPts val="0"/>
              </a:spcAft>
              <a:buSzPts val="1100"/>
              <a:buChar char="-"/>
            </a:pPr>
            <a:r>
              <a:rPr lang="en"/>
              <a:t>Set the Arduino pins as input or output</a:t>
            </a:r>
            <a:endParaRPr/>
          </a:p>
          <a:p>
            <a:pPr indent="-298450" lvl="0" marL="457200" rtl="0" algn="l">
              <a:spcBef>
                <a:spcPts val="0"/>
              </a:spcBef>
              <a:spcAft>
                <a:spcPts val="0"/>
              </a:spcAft>
              <a:buSzPts val="1100"/>
              <a:buChar char="-"/>
            </a:pPr>
            <a:r>
              <a:rPr lang="en"/>
              <a:t>Sets initial state to STOP</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loop()</a:t>
            </a:r>
            <a:endParaRPr/>
          </a:p>
          <a:p>
            <a:pPr indent="-298450" lvl="0" marL="457200" rtl="0" algn="l">
              <a:spcBef>
                <a:spcPts val="0"/>
              </a:spcBef>
              <a:spcAft>
                <a:spcPts val="0"/>
              </a:spcAft>
              <a:buSzPts val="1100"/>
              <a:buChar char="-"/>
            </a:pPr>
            <a:r>
              <a:rPr lang="en"/>
              <a:t>The code in inside of the loop is a </a:t>
            </a:r>
            <a:r>
              <a:rPr lang="en"/>
              <a:t>switch case statement</a:t>
            </a:r>
            <a:endParaRPr/>
          </a:p>
          <a:p>
            <a:pPr indent="-298450" lvl="0" marL="457200" rtl="0" algn="l">
              <a:spcBef>
                <a:spcPts val="0"/>
              </a:spcBef>
              <a:spcAft>
                <a:spcPts val="0"/>
              </a:spcAft>
              <a:buSzPts val="1100"/>
              <a:buChar char="-"/>
            </a:pPr>
            <a:r>
              <a:rPr lang="en">
                <a:solidFill>
                  <a:schemeClr val="dk1"/>
                </a:solidFill>
              </a:rPr>
              <a:t>There was intended to be a reverse case. However, the code would not enter the reverse case so the reverse case was combined with the forward case.</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fba8b828c4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fba8b828c4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STOP Case: </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sets both output pins to be LOW </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STOP -&gt; FORWARD: If the user flips the switch, TOGGLE pin will read LOW which switches the state to FORWARD</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fb7ddef494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fb7ddef494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FORWARD Case: </a:t>
            </a:r>
            <a:endParaRPr/>
          </a:p>
          <a:p>
            <a:pPr indent="-298450" lvl="0" marL="457200" rtl="0" algn="l">
              <a:spcBef>
                <a:spcPts val="0"/>
              </a:spcBef>
              <a:spcAft>
                <a:spcPts val="0"/>
              </a:spcAft>
              <a:buSzPts val="1100"/>
              <a:buAutoNum type="arabicParenR"/>
            </a:pPr>
            <a:r>
              <a:rPr lang="en"/>
              <a:t>The signals sent through the output pins depended on how long the program has been running</a:t>
            </a:r>
            <a:endParaRPr/>
          </a:p>
          <a:p>
            <a:pPr indent="-298450" lvl="0" marL="457200" rtl="0" algn="l">
              <a:spcBef>
                <a:spcPts val="0"/>
              </a:spcBef>
              <a:spcAft>
                <a:spcPts val="0"/>
              </a:spcAft>
              <a:buSzPts val="1100"/>
              <a:buAutoNum type="arabicParenR"/>
            </a:pPr>
            <a:r>
              <a:rPr lang="en"/>
              <a:t>Let's</a:t>
            </a:r>
            <a:r>
              <a:rPr lang="en"/>
              <a:t> look at the shy interval. </a:t>
            </a:r>
            <a:endParaRPr/>
          </a:p>
          <a:p>
            <a:pPr indent="-298450" lvl="0" marL="457200" rtl="0" algn="l">
              <a:spcBef>
                <a:spcPts val="0"/>
              </a:spcBef>
              <a:spcAft>
                <a:spcPts val="0"/>
              </a:spcAft>
              <a:buSzPts val="1100"/>
              <a:buChar char="-"/>
            </a:pPr>
            <a:r>
              <a:rPr lang="en"/>
              <a:t>First the the finger moves counterclockwise at a slow speed.</a:t>
            </a:r>
            <a:endParaRPr/>
          </a:p>
          <a:p>
            <a:pPr indent="0" lvl="0" marL="45720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fb7ddef494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fb7ddef494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The finger then pauses before continuing forward as a quicker pace</a:t>
            </a:r>
            <a:endParaRPr/>
          </a:p>
          <a:p>
            <a:pPr indent="-298450" lvl="0" marL="457200" rtl="0" algn="l">
              <a:spcBef>
                <a:spcPts val="0"/>
              </a:spcBef>
              <a:spcAft>
                <a:spcPts val="0"/>
              </a:spcAft>
              <a:buSzPts val="1100"/>
              <a:buChar char="-"/>
            </a:pPr>
            <a:r>
              <a:rPr lang="en"/>
              <a:t>When the finger flips back the toggle switch,  TOGGLE reads HIGH which </a:t>
            </a:r>
            <a:r>
              <a:rPr lang="en"/>
              <a:t>signals</a:t>
            </a:r>
            <a:r>
              <a:rPr lang="en"/>
              <a:t> the code to tell the finger to reverse</a:t>
            </a:r>
            <a:endParaRPr/>
          </a:p>
          <a:p>
            <a:pPr indent="-298450" lvl="0" marL="457200" rtl="0" algn="l">
              <a:spcBef>
                <a:spcPts val="0"/>
              </a:spcBef>
              <a:spcAft>
                <a:spcPts val="0"/>
              </a:spcAft>
              <a:buSzPts val="1100"/>
              <a:buChar char="-"/>
            </a:pPr>
            <a:r>
              <a:rPr lang="en"/>
              <a:t>When the finger hits the limit switch, the LIMIT will read high which will switch the state to STOP</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fa0eca28ce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fa0eca28ce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fbb047aa9f_6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fbb047aa9f_6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The amount of the time the program is stored in the variable called now. </a:t>
            </a:r>
            <a:endParaRPr/>
          </a:p>
          <a:p>
            <a:pPr indent="-298450" lvl="0" marL="457200" rtl="0" algn="l">
              <a:spcBef>
                <a:spcPts val="0"/>
              </a:spcBef>
              <a:spcAft>
                <a:spcPts val="0"/>
              </a:spcAft>
              <a:buSzPts val="1100"/>
              <a:buChar char="-"/>
            </a:pPr>
            <a:r>
              <a:rPr lang="en"/>
              <a:t>If the time interval between the last time the pipe was shifted to the left and now is greater than BAR_SHIFT_DELAY, then then the program will shift to the left.</a:t>
            </a:r>
            <a:endParaRPr/>
          </a:p>
          <a:p>
            <a:pPr indent="-298450" lvl="0" marL="457200" rtl="0" algn="l">
              <a:spcBef>
                <a:spcPts val="0"/>
              </a:spcBef>
              <a:spcAft>
                <a:spcPts val="0"/>
              </a:spcAft>
              <a:buSzPts val="1100"/>
              <a:buChar char="-"/>
            </a:pPr>
            <a:r>
              <a:rPr lang="en"/>
              <a:t>The third if statement checks to see if the bird has collided with the pipe and if so, the program ends the game</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fba8b828c4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fba8b828c4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The program also checks to see if the bird has collided with the star. </a:t>
            </a:r>
            <a:endParaRPr/>
          </a:p>
          <a:p>
            <a:pPr indent="-298450" lvl="0" marL="457200" rtl="0" algn="l">
              <a:spcBef>
                <a:spcPts val="0"/>
              </a:spcBef>
              <a:spcAft>
                <a:spcPts val="0"/>
              </a:spcAft>
              <a:buSzPts val="1100"/>
              <a:buChar char="-"/>
            </a:pPr>
            <a:r>
              <a:rPr lang="en"/>
              <a:t>This is so that the program knows to increment stars by one and not turn off the light that represents the bird as well as the star</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fba8b828c4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fba8b828c4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Each time a new pipe is generated the pipe hole is in a new random location</a:t>
            </a:r>
            <a:endParaRPr/>
          </a:p>
          <a:p>
            <a:pPr indent="-298450" lvl="0" marL="457200" rtl="0" algn="l">
              <a:spcBef>
                <a:spcPts val="0"/>
              </a:spcBef>
              <a:spcAft>
                <a:spcPts val="0"/>
              </a:spcAft>
              <a:buSzPts val="1100"/>
              <a:buChar char="-"/>
            </a:pPr>
            <a:r>
              <a:rPr lang="en"/>
              <a:t>This is done using the random function to generate the row where the hole begins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fa0eca28ce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fa0eca28ce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fbb047aa9f_6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fbb047aa9f_6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fbb047aa9f_6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fbb047aa9f_6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The class called TypeImage.py has a constructor which creates an Image object</a:t>
            </a:r>
            <a:endParaRPr/>
          </a:p>
          <a:p>
            <a:pPr indent="-298450" lvl="0" marL="457200" rtl="0" algn="l">
              <a:spcBef>
                <a:spcPts val="0"/>
              </a:spcBef>
              <a:spcAft>
                <a:spcPts val="0"/>
              </a:spcAft>
              <a:buSzPts val="1100"/>
              <a:buChar char="-"/>
            </a:pPr>
            <a:r>
              <a:rPr lang="en"/>
              <a:t>The code calls methods on the image object to get responses from ChatGPT</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fbb047aa9f_6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fbb047aa9f_6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40a1217d70f_13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40a1217d70f_13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no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hyperlink" Target="https://youtu.be/IO3NaEkqawU" TargetMode="External"/><Relationship Id="rId4" Type="http://schemas.openxmlformats.org/officeDocument/2006/relationships/hyperlink" Target="https://github.com/daiyuf25/Yufei-s-Portfolio"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www.youtube.com/watch?v=6IQ6m4zNzsA" TargetMode="External"/><Relationship Id="rId4"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www.youtube.com/watch?v=hW-sUm12_Eg" TargetMode="External"/><Relationship Id="rId4" Type="http://schemas.openxmlformats.org/officeDocument/2006/relationships/image" Target="../media/image13.jpg"/><Relationship Id="rId5"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8.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19.png"/><Relationship Id="rId4" Type="http://schemas.openxmlformats.org/officeDocument/2006/relationships/hyperlink" Target="http://www.youtube.com/watch?v=gd_y3kM90tQ" TargetMode="External"/><Relationship Id="rId5" Type="http://schemas.openxmlformats.org/officeDocument/2006/relationships/image" Target="../media/image20.jpg"/><Relationship Id="rId6"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hyperlink" Target="http://www.youtube.com/watch?v=FAwH1T1NQb4" TargetMode="External"/><Relationship Id="rId4" Type="http://schemas.openxmlformats.org/officeDocument/2006/relationships/image" Target="../media/image2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2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solidFill>
                  <a:schemeClr val="lt1"/>
                </a:solidFill>
              </a:rPr>
              <a:t>Yufei Dai</a:t>
            </a:r>
            <a:endParaRPr>
              <a:solidFill>
                <a:schemeClr val="lt1"/>
              </a:solidFill>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solidFill>
                  <a:schemeClr val="lt1"/>
                </a:solidFill>
              </a:rPr>
              <a:t>Electrical Engineering Major</a:t>
            </a:r>
            <a:endParaRPr>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Clr>
                <a:schemeClr val="dk1"/>
              </a:buClr>
              <a:buSzPts val="1100"/>
              <a:buFont typeface="Arial"/>
              <a:buNone/>
            </a:pPr>
            <a:r>
              <a:rPr lang="en" sz="2800" u="sng">
                <a:solidFill>
                  <a:schemeClr val="hlink"/>
                </a:solidFill>
                <a:hlinkClick r:id="rId3"/>
              </a:rPr>
              <a:t>Link to portfolio walk through video</a:t>
            </a:r>
            <a:r>
              <a:rPr lang="en" sz="2800">
                <a:solidFill>
                  <a:schemeClr val="dk2"/>
                </a:solidFill>
              </a:rPr>
              <a:t> (9 min) </a:t>
            </a:r>
            <a:endParaRPr/>
          </a:p>
        </p:txBody>
      </p:sp>
      <p:sp>
        <p:nvSpPr>
          <p:cNvPr id="61" name="Google Shape;61;p14"/>
          <p:cNvSpPr txBox="1"/>
          <p:nvPr>
            <p:ph idx="1" type="subTitle"/>
          </p:nvPr>
        </p:nvSpPr>
        <p:spPr>
          <a:xfrm>
            <a:off x="311700" y="2834125"/>
            <a:ext cx="8520600" cy="1067100"/>
          </a:xfrm>
          <a:prstGeom prst="rect">
            <a:avLst/>
          </a:prstGeom>
        </p:spPr>
        <p:txBody>
          <a:bodyPr anchorCtr="0" anchor="t" bIns="91425" lIns="91425" spcFirstLastPara="1" rIns="91425" wrap="square" tIns="91425">
            <a:normAutofit fontScale="62500" lnSpcReduction="20000"/>
          </a:bodyPr>
          <a:lstStyle/>
          <a:p>
            <a:pPr indent="0" lvl="0" marL="0" rtl="0" algn="ctr">
              <a:spcBef>
                <a:spcPts val="0"/>
              </a:spcBef>
              <a:spcAft>
                <a:spcPts val="0"/>
              </a:spcAft>
              <a:buNone/>
            </a:pPr>
            <a:r>
              <a:rPr lang="en"/>
              <a:t>For the complete for all programming projects follow this link to github: </a:t>
            </a:r>
            <a:r>
              <a:rPr lang="en" u="sng">
                <a:solidFill>
                  <a:schemeClr val="hlink"/>
                </a:solidFill>
                <a:hlinkClick r:id="rId4"/>
              </a:rPr>
              <a:t>https://github.com/daiyuf25/Yufei-s-Portfolio</a:t>
            </a:r>
            <a:endParaRPr/>
          </a:p>
          <a:p>
            <a:pPr indent="0" lvl="0" marL="0" rtl="0" algn="ctr">
              <a:spcBef>
                <a:spcPts val="0"/>
              </a:spcBef>
              <a:spcAft>
                <a:spcPts val="0"/>
              </a:spcAft>
              <a:buNone/>
            </a:pPr>
            <a:r>
              <a:t/>
            </a:r>
            <a:endParaRPr/>
          </a:p>
          <a:p>
            <a:pPr indent="0" lvl="0" marL="0" rtl="0" algn="l">
              <a:spcBef>
                <a:spcPts val="0"/>
              </a:spcBef>
              <a:spcAft>
                <a:spcPts val="0"/>
              </a:spcAft>
              <a:buNone/>
            </a:pPr>
            <a:r>
              <a:t/>
            </a:r>
            <a:endParaRPr>
              <a:highlight>
                <a:srgbClr val="FFFF00"/>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Solar Panel Phone Charger</a:t>
            </a:r>
            <a:endParaRPr/>
          </a:p>
        </p:txBody>
      </p:sp>
      <p:sp>
        <p:nvSpPr>
          <p:cNvPr id="67" name="Google Shape;67;p1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Schematic:</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68" name="Google Shape;68;p15"/>
          <p:cNvPicPr preferRelativeResize="0"/>
          <p:nvPr/>
        </p:nvPicPr>
        <p:blipFill>
          <a:blip r:embed="rId3">
            <a:alphaModFix/>
          </a:blip>
          <a:stretch>
            <a:fillRect/>
          </a:stretch>
        </p:blipFill>
        <p:spPr>
          <a:xfrm>
            <a:off x="311700" y="1653300"/>
            <a:ext cx="5966519" cy="2915600"/>
          </a:xfrm>
          <a:prstGeom prst="rect">
            <a:avLst/>
          </a:prstGeom>
          <a:noFill/>
          <a:ln>
            <a:noFill/>
          </a:ln>
        </p:spPr>
      </p:pic>
      <p:sp>
        <p:nvSpPr>
          <p:cNvPr id="69" name="Google Shape;69;p1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1371600" rtl="0" algn="l">
              <a:spcBef>
                <a:spcPts val="0"/>
              </a:spcBef>
              <a:spcAft>
                <a:spcPts val="1200"/>
              </a:spcAft>
              <a:buNone/>
            </a:pPr>
            <a:r>
              <a:rPr lang="en"/>
              <a:t>Picture:</a:t>
            </a:r>
            <a:endParaRPr/>
          </a:p>
        </p:txBody>
      </p:sp>
      <p:pic>
        <p:nvPicPr>
          <p:cNvPr id="70" name="Google Shape;70;p15" title="Image.jpeg"/>
          <p:cNvPicPr preferRelativeResize="0"/>
          <p:nvPr/>
        </p:nvPicPr>
        <p:blipFill>
          <a:blip r:embed="rId4">
            <a:alphaModFix/>
          </a:blip>
          <a:stretch>
            <a:fillRect/>
          </a:stretch>
        </p:blipFill>
        <p:spPr>
          <a:xfrm>
            <a:off x="6432045" y="1653300"/>
            <a:ext cx="2186700" cy="291559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Useless Box</a:t>
            </a:r>
            <a:endParaRPr/>
          </a:p>
        </p:txBody>
      </p:sp>
      <p:sp>
        <p:nvSpPr>
          <p:cNvPr id="76" name="Google Shape;76;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Overview: The useless box is a toy where you flip a switch on the box and a finger in the box flips the </a:t>
            </a:r>
            <a:r>
              <a:rPr lang="en"/>
              <a:t>switch</a:t>
            </a:r>
            <a:r>
              <a:rPr lang="en"/>
              <a:t> back. I changed the Arduino code to give my useless box a personality. This video is a demo of the the useless box I made.</a:t>
            </a:r>
            <a:endParaRPr/>
          </a:p>
          <a:p>
            <a:pPr indent="0" lvl="0" marL="0" rtl="0" algn="l">
              <a:spcBef>
                <a:spcPts val="1200"/>
              </a:spcBef>
              <a:spcAft>
                <a:spcPts val="1200"/>
              </a:spcAft>
              <a:buNone/>
            </a:pPr>
            <a:r>
              <a:t/>
            </a:r>
            <a:endParaRPr/>
          </a:p>
        </p:txBody>
      </p:sp>
      <p:pic>
        <p:nvPicPr>
          <p:cNvPr descr="This video was made with Clipchamp" id="77" name="Google Shape;77;p16" title="Useless Box Demo">
            <a:hlinkClick r:id="rId3"/>
          </p:cNvPr>
          <p:cNvPicPr preferRelativeResize="0"/>
          <p:nvPr/>
        </p:nvPicPr>
        <p:blipFill>
          <a:blip r:embed="rId4">
            <a:alphaModFix/>
          </a:blip>
          <a:stretch>
            <a:fillRect/>
          </a:stretch>
        </p:blipFill>
        <p:spPr>
          <a:xfrm>
            <a:off x="2014700" y="2370500"/>
            <a:ext cx="4419500" cy="24859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
                                        </p:tgtEl>
                                        <p:attrNameLst>
                                          <p:attrName>style.visibility</p:attrName>
                                        </p:attrNameLst>
                                      </p:cBhvr>
                                      <p:to>
                                        <p:strVal val="visible"/>
                                      </p:to>
                                    </p:set>
                                    <p:animEffect filter="fade" transition="in">
                                      <p:cBhvr>
                                        <p:cTn dur="1000"/>
                                        <p:tgtEl>
                                          <p:spTgt spid="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Electrical Schematic</a:t>
            </a:r>
            <a:endParaRPr/>
          </a:p>
        </p:txBody>
      </p:sp>
      <p:pic>
        <p:nvPicPr>
          <p:cNvPr id="83" name="Google Shape;83;p17"/>
          <p:cNvPicPr preferRelativeResize="0"/>
          <p:nvPr/>
        </p:nvPicPr>
        <p:blipFill>
          <a:blip r:embed="rId3">
            <a:alphaModFix/>
          </a:blip>
          <a:stretch>
            <a:fillRect/>
          </a:stretch>
        </p:blipFill>
        <p:spPr>
          <a:xfrm>
            <a:off x="311700" y="1017725"/>
            <a:ext cx="8343542" cy="38209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Code Overview</a:t>
            </a:r>
            <a:endParaRPr/>
          </a:p>
        </p:txBody>
      </p:sp>
      <p:sp>
        <p:nvSpPr>
          <p:cNvPr id="89" name="Google Shape;89;p18"/>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Setting up the Arduino Pins</a:t>
            </a:r>
            <a:endParaRPr/>
          </a:p>
          <a:p>
            <a:pPr indent="0" lvl="0" marL="0" rtl="0" algn="l">
              <a:spcBef>
                <a:spcPts val="1200"/>
              </a:spcBef>
              <a:spcAft>
                <a:spcPts val="1200"/>
              </a:spcAft>
              <a:buNone/>
            </a:pPr>
            <a:r>
              <a:t/>
            </a:r>
            <a:endParaRPr/>
          </a:p>
        </p:txBody>
      </p:sp>
      <p:pic>
        <p:nvPicPr>
          <p:cNvPr id="90" name="Google Shape;90;p18"/>
          <p:cNvPicPr preferRelativeResize="0"/>
          <p:nvPr/>
        </p:nvPicPr>
        <p:blipFill>
          <a:blip r:embed="rId3">
            <a:alphaModFix/>
          </a:blip>
          <a:stretch>
            <a:fillRect/>
          </a:stretch>
        </p:blipFill>
        <p:spPr>
          <a:xfrm>
            <a:off x="311695" y="1664175"/>
            <a:ext cx="3146749" cy="2904700"/>
          </a:xfrm>
          <a:prstGeom prst="rect">
            <a:avLst/>
          </a:prstGeom>
          <a:noFill/>
          <a:ln>
            <a:noFill/>
          </a:ln>
        </p:spPr>
      </p:pic>
      <p:sp>
        <p:nvSpPr>
          <p:cNvPr id="91" name="Google Shape;91;p18"/>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Loop() Structure</a:t>
            </a:r>
            <a:endParaRPr/>
          </a:p>
          <a:p>
            <a:pPr indent="0" lvl="0" marL="0" rtl="0" algn="l">
              <a:spcBef>
                <a:spcPts val="1200"/>
              </a:spcBef>
              <a:spcAft>
                <a:spcPts val="1200"/>
              </a:spcAft>
              <a:buNone/>
            </a:pPr>
            <a:r>
              <a:t/>
            </a:r>
            <a:endParaRPr/>
          </a:p>
        </p:txBody>
      </p:sp>
      <p:pic>
        <p:nvPicPr>
          <p:cNvPr id="92" name="Google Shape;92;p18"/>
          <p:cNvPicPr preferRelativeResize="0"/>
          <p:nvPr/>
        </p:nvPicPr>
        <p:blipFill>
          <a:blip r:embed="rId4">
            <a:alphaModFix/>
          </a:blip>
          <a:stretch>
            <a:fillRect/>
          </a:stretch>
        </p:blipFill>
        <p:spPr>
          <a:xfrm>
            <a:off x="3914775" y="1664175"/>
            <a:ext cx="4496399" cy="843675"/>
          </a:xfrm>
          <a:prstGeom prst="rect">
            <a:avLst/>
          </a:prstGeom>
          <a:noFill/>
          <a:ln>
            <a:noFill/>
          </a:ln>
        </p:spPr>
      </p:pic>
      <p:sp>
        <p:nvSpPr>
          <p:cNvPr id="93" name="Google Shape;93;p18"/>
          <p:cNvSpPr txBox="1"/>
          <p:nvPr/>
        </p:nvSpPr>
        <p:spPr>
          <a:xfrm>
            <a:off x="3914775" y="2507850"/>
            <a:ext cx="3000000" cy="258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0D0D0D"/>
                </a:solidFill>
                <a:latin typeface="Courier New"/>
                <a:ea typeface="Courier New"/>
                <a:cs typeface="Courier New"/>
                <a:sym typeface="Courier New"/>
              </a:rPr>
              <a:t>switch (state) {</a:t>
            </a:r>
            <a:endParaRPr sz="1200">
              <a:solidFill>
                <a:srgbClr val="0D0D0D"/>
              </a:solidFill>
              <a:latin typeface="Courier New"/>
              <a:ea typeface="Courier New"/>
              <a:cs typeface="Courier New"/>
              <a:sym typeface="Courier New"/>
            </a:endParaRPr>
          </a:p>
          <a:p>
            <a:pPr indent="0" lvl="0" marL="0" rtl="0" algn="l">
              <a:spcBef>
                <a:spcPts val="0"/>
              </a:spcBef>
              <a:spcAft>
                <a:spcPts val="0"/>
              </a:spcAft>
              <a:buNone/>
            </a:pPr>
            <a:r>
              <a:rPr lang="en" sz="1200">
                <a:solidFill>
                  <a:srgbClr val="0D0D0D"/>
                </a:solidFill>
                <a:latin typeface="Courier New"/>
                <a:ea typeface="Courier New"/>
                <a:cs typeface="Courier New"/>
                <a:sym typeface="Courier New"/>
              </a:rPr>
              <a:t>  case STOP:</a:t>
            </a:r>
            <a:endParaRPr sz="1200">
              <a:solidFill>
                <a:srgbClr val="0D0D0D"/>
              </a:solidFill>
              <a:latin typeface="Courier New"/>
              <a:ea typeface="Courier New"/>
              <a:cs typeface="Courier New"/>
              <a:sym typeface="Courier New"/>
            </a:endParaRPr>
          </a:p>
          <a:p>
            <a:pPr indent="0" lvl="0" marL="0" rtl="0" algn="l">
              <a:spcBef>
                <a:spcPts val="0"/>
              </a:spcBef>
              <a:spcAft>
                <a:spcPts val="0"/>
              </a:spcAft>
              <a:buNone/>
            </a:pPr>
            <a:r>
              <a:rPr lang="en" sz="1200">
                <a:solidFill>
                  <a:srgbClr val="0D0D0D"/>
                </a:solidFill>
                <a:latin typeface="Courier New"/>
                <a:ea typeface="Courier New"/>
                <a:cs typeface="Courier New"/>
                <a:sym typeface="Courier New"/>
              </a:rPr>
              <a:t>    // code</a:t>
            </a:r>
            <a:endParaRPr sz="1200">
              <a:solidFill>
                <a:srgbClr val="0D0D0D"/>
              </a:solidFill>
              <a:latin typeface="Courier New"/>
              <a:ea typeface="Courier New"/>
              <a:cs typeface="Courier New"/>
              <a:sym typeface="Courier New"/>
            </a:endParaRPr>
          </a:p>
          <a:p>
            <a:pPr indent="0" lvl="0" marL="0" rtl="0" algn="l">
              <a:spcBef>
                <a:spcPts val="0"/>
              </a:spcBef>
              <a:spcAft>
                <a:spcPts val="0"/>
              </a:spcAft>
              <a:buNone/>
            </a:pPr>
            <a:r>
              <a:rPr lang="en" sz="1200">
                <a:solidFill>
                  <a:srgbClr val="0D0D0D"/>
                </a:solidFill>
                <a:latin typeface="Courier New"/>
                <a:ea typeface="Courier New"/>
                <a:cs typeface="Courier New"/>
                <a:sym typeface="Courier New"/>
              </a:rPr>
              <a:t>    break;</a:t>
            </a:r>
            <a:endParaRPr sz="1200">
              <a:solidFill>
                <a:srgbClr val="0D0D0D"/>
              </a:solidFill>
              <a:latin typeface="Courier New"/>
              <a:ea typeface="Courier New"/>
              <a:cs typeface="Courier New"/>
              <a:sym typeface="Courier New"/>
            </a:endParaRPr>
          </a:p>
          <a:p>
            <a:pPr indent="0" lvl="0" marL="0" rtl="0" algn="l">
              <a:spcBef>
                <a:spcPts val="0"/>
              </a:spcBef>
              <a:spcAft>
                <a:spcPts val="0"/>
              </a:spcAft>
              <a:buNone/>
            </a:pPr>
            <a:r>
              <a:t/>
            </a:r>
            <a:endParaRPr sz="1200">
              <a:solidFill>
                <a:srgbClr val="0D0D0D"/>
              </a:solidFill>
              <a:latin typeface="Courier New"/>
              <a:ea typeface="Courier New"/>
              <a:cs typeface="Courier New"/>
              <a:sym typeface="Courier New"/>
            </a:endParaRPr>
          </a:p>
          <a:p>
            <a:pPr indent="0" lvl="0" marL="0" rtl="0" algn="l">
              <a:spcBef>
                <a:spcPts val="0"/>
              </a:spcBef>
              <a:spcAft>
                <a:spcPts val="0"/>
              </a:spcAft>
              <a:buNone/>
            </a:pPr>
            <a:r>
              <a:rPr lang="en" sz="1200">
                <a:solidFill>
                  <a:srgbClr val="0D0D0D"/>
                </a:solidFill>
                <a:latin typeface="Courier New"/>
                <a:ea typeface="Courier New"/>
                <a:cs typeface="Courier New"/>
                <a:sym typeface="Courier New"/>
              </a:rPr>
              <a:t>  case FORWARD:</a:t>
            </a:r>
            <a:endParaRPr sz="1200">
              <a:solidFill>
                <a:srgbClr val="0D0D0D"/>
              </a:solidFill>
              <a:latin typeface="Courier New"/>
              <a:ea typeface="Courier New"/>
              <a:cs typeface="Courier New"/>
              <a:sym typeface="Courier New"/>
            </a:endParaRPr>
          </a:p>
          <a:p>
            <a:pPr indent="0" lvl="0" marL="0" rtl="0" algn="l">
              <a:spcBef>
                <a:spcPts val="0"/>
              </a:spcBef>
              <a:spcAft>
                <a:spcPts val="0"/>
              </a:spcAft>
              <a:buNone/>
            </a:pPr>
            <a:r>
              <a:rPr lang="en" sz="1200">
                <a:solidFill>
                  <a:srgbClr val="0D0D0D"/>
                </a:solidFill>
                <a:latin typeface="Courier New"/>
                <a:ea typeface="Courier New"/>
                <a:cs typeface="Courier New"/>
                <a:sym typeface="Courier New"/>
              </a:rPr>
              <a:t>    // code</a:t>
            </a:r>
            <a:endParaRPr sz="1200">
              <a:solidFill>
                <a:srgbClr val="0D0D0D"/>
              </a:solidFill>
              <a:latin typeface="Courier New"/>
              <a:ea typeface="Courier New"/>
              <a:cs typeface="Courier New"/>
              <a:sym typeface="Courier New"/>
            </a:endParaRPr>
          </a:p>
          <a:p>
            <a:pPr indent="0" lvl="0" marL="0" rtl="0" algn="l">
              <a:spcBef>
                <a:spcPts val="0"/>
              </a:spcBef>
              <a:spcAft>
                <a:spcPts val="0"/>
              </a:spcAft>
              <a:buNone/>
            </a:pPr>
            <a:r>
              <a:rPr lang="en" sz="1200">
                <a:solidFill>
                  <a:srgbClr val="0D0D0D"/>
                </a:solidFill>
                <a:latin typeface="Courier New"/>
                <a:ea typeface="Courier New"/>
                <a:cs typeface="Courier New"/>
                <a:sym typeface="Courier New"/>
              </a:rPr>
              <a:t>    break;</a:t>
            </a:r>
            <a:endParaRPr sz="1200">
              <a:solidFill>
                <a:srgbClr val="0D0D0D"/>
              </a:solidFill>
              <a:latin typeface="Courier New"/>
              <a:ea typeface="Courier New"/>
              <a:cs typeface="Courier New"/>
              <a:sym typeface="Courier New"/>
            </a:endParaRPr>
          </a:p>
          <a:p>
            <a:pPr indent="0" lvl="0" marL="0" rtl="0" algn="l">
              <a:spcBef>
                <a:spcPts val="0"/>
              </a:spcBef>
              <a:spcAft>
                <a:spcPts val="0"/>
              </a:spcAft>
              <a:buNone/>
            </a:pPr>
            <a:r>
              <a:t/>
            </a:r>
            <a:endParaRPr sz="1200">
              <a:solidFill>
                <a:srgbClr val="0D0D0D"/>
              </a:solidFill>
              <a:latin typeface="Courier New"/>
              <a:ea typeface="Courier New"/>
              <a:cs typeface="Courier New"/>
              <a:sym typeface="Courier New"/>
            </a:endParaRPr>
          </a:p>
          <a:p>
            <a:pPr indent="0" lvl="0" marL="0" rtl="0" algn="l">
              <a:spcBef>
                <a:spcPts val="0"/>
              </a:spcBef>
              <a:spcAft>
                <a:spcPts val="0"/>
              </a:spcAft>
              <a:buNone/>
            </a:pPr>
            <a:r>
              <a:rPr lang="en" sz="1200">
                <a:solidFill>
                  <a:srgbClr val="0D0D0D"/>
                </a:solidFill>
                <a:latin typeface="Courier New"/>
                <a:ea typeface="Courier New"/>
                <a:cs typeface="Courier New"/>
                <a:sym typeface="Courier New"/>
              </a:rPr>
              <a:t>  default:</a:t>
            </a:r>
            <a:endParaRPr sz="1200">
              <a:solidFill>
                <a:srgbClr val="0D0D0D"/>
              </a:solidFill>
              <a:latin typeface="Courier New"/>
              <a:ea typeface="Courier New"/>
              <a:cs typeface="Courier New"/>
              <a:sym typeface="Courier New"/>
            </a:endParaRPr>
          </a:p>
          <a:p>
            <a:pPr indent="0" lvl="0" marL="0" rtl="0" algn="l">
              <a:spcBef>
                <a:spcPts val="0"/>
              </a:spcBef>
              <a:spcAft>
                <a:spcPts val="0"/>
              </a:spcAft>
              <a:buNone/>
            </a:pPr>
            <a:r>
              <a:rPr lang="en" sz="1200">
                <a:solidFill>
                  <a:srgbClr val="0D0D0D"/>
                </a:solidFill>
                <a:latin typeface="Courier New"/>
                <a:ea typeface="Courier New"/>
                <a:cs typeface="Courier New"/>
                <a:sym typeface="Courier New"/>
              </a:rPr>
              <a:t>    // code</a:t>
            </a:r>
            <a:endParaRPr sz="1200">
              <a:solidFill>
                <a:srgbClr val="0D0D0D"/>
              </a:solidFill>
              <a:latin typeface="Courier New"/>
              <a:ea typeface="Courier New"/>
              <a:cs typeface="Courier New"/>
              <a:sym typeface="Courier New"/>
            </a:endParaRPr>
          </a:p>
          <a:p>
            <a:pPr indent="0" lvl="0" marL="0" rtl="0" algn="l">
              <a:spcBef>
                <a:spcPts val="0"/>
              </a:spcBef>
              <a:spcAft>
                <a:spcPts val="0"/>
              </a:spcAft>
              <a:buNone/>
            </a:pPr>
            <a:r>
              <a:rPr lang="en" sz="1200">
                <a:solidFill>
                  <a:srgbClr val="0D0D0D"/>
                </a:solidFill>
                <a:latin typeface="Courier New"/>
                <a:ea typeface="Courier New"/>
                <a:cs typeface="Courier New"/>
                <a:sym typeface="Courier New"/>
              </a:rPr>
              <a:t>    break;</a:t>
            </a:r>
            <a:endParaRPr sz="1200">
              <a:solidFill>
                <a:srgbClr val="0D0D0D"/>
              </a:solidFill>
              <a:latin typeface="Courier New"/>
              <a:ea typeface="Courier New"/>
              <a:cs typeface="Courier New"/>
              <a:sym typeface="Courier New"/>
            </a:endParaRPr>
          </a:p>
          <a:p>
            <a:pPr indent="0" lvl="0" marL="0" rtl="0" algn="l">
              <a:spcBef>
                <a:spcPts val="0"/>
              </a:spcBef>
              <a:spcAft>
                <a:spcPts val="0"/>
              </a:spcAft>
              <a:buNone/>
            </a:pPr>
            <a:r>
              <a:rPr lang="en" sz="1200">
                <a:solidFill>
                  <a:srgbClr val="0D0D0D"/>
                </a:solidFill>
                <a:latin typeface="Courier New"/>
                <a:ea typeface="Courier New"/>
                <a:cs typeface="Courier New"/>
                <a:sym typeface="Courier New"/>
              </a:rPr>
              <a:t>}</a:t>
            </a:r>
            <a:r>
              <a:rPr lang="en" sz="1100">
                <a:solidFill>
                  <a:schemeClr val="dk1"/>
                </a:solidFill>
              </a:rPr>
              <a:t>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Stop Case</a:t>
            </a:r>
            <a:endParaRPr/>
          </a:p>
        </p:txBody>
      </p:sp>
      <p:pic>
        <p:nvPicPr>
          <p:cNvPr id="99" name="Google Shape;99;p19"/>
          <p:cNvPicPr preferRelativeResize="0"/>
          <p:nvPr/>
        </p:nvPicPr>
        <p:blipFill>
          <a:blip r:embed="rId3">
            <a:alphaModFix/>
          </a:blip>
          <a:stretch>
            <a:fillRect/>
          </a:stretch>
        </p:blipFill>
        <p:spPr>
          <a:xfrm>
            <a:off x="311700" y="1017736"/>
            <a:ext cx="4917526" cy="1960525"/>
          </a:xfrm>
          <a:prstGeom prst="rect">
            <a:avLst/>
          </a:prstGeom>
          <a:noFill/>
          <a:ln>
            <a:noFill/>
          </a:ln>
        </p:spPr>
      </p:pic>
      <p:cxnSp>
        <p:nvCxnSpPr>
          <p:cNvPr id="100" name="Google Shape;100;p19"/>
          <p:cNvCxnSpPr/>
          <p:nvPr/>
        </p:nvCxnSpPr>
        <p:spPr>
          <a:xfrm>
            <a:off x="1729300" y="2413625"/>
            <a:ext cx="2466600" cy="1143000"/>
          </a:xfrm>
          <a:prstGeom prst="straightConnector1">
            <a:avLst/>
          </a:prstGeom>
          <a:noFill/>
          <a:ln cap="flat" cmpd="sng" w="9525">
            <a:solidFill>
              <a:schemeClr val="dk2"/>
            </a:solidFill>
            <a:prstDash val="solid"/>
            <a:round/>
            <a:headEnd len="med" w="med" type="none"/>
            <a:tailEnd len="med" w="med" type="triangle"/>
          </a:ln>
        </p:spPr>
      </p:cxnSp>
      <p:pic>
        <p:nvPicPr>
          <p:cNvPr id="101" name="Google Shape;101;p19"/>
          <p:cNvPicPr preferRelativeResize="0"/>
          <p:nvPr/>
        </p:nvPicPr>
        <p:blipFill>
          <a:blip r:embed="rId4">
            <a:alphaModFix/>
          </a:blip>
          <a:stretch>
            <a:fillRect/>
          </a:stretch>
        </p:blipFill>
        <p:spPr>
          <a:xfrm>
            <a:off x="4651050" y="3202700"/>
            <a:ext cx="2580301" cy="158818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Forward/Reverse Case</a:t>
            </a:r>
            <a:endParaRPr/>
          </a:p>
        </p:txBody>
      </p:sp>
      <p:pic>
        <p:nvPicPr>
          <p:cNvPr id="107" name="Google Shape;107;p20"/>
          <p:cNvPicPr preferRelativeResize="0"/>
          <p:nvPr/>
        </p:nvPicPr>
        <p:blipFill>
          <a:blip r:embed="rId3">
            <a:alphaModFix/>
          </a:blip>
          <a:stretch>
            <a:fillRect/>
          </a:stretch>
        </p:blipFill>
        <p:spPr>
          <a:xfrm>
            <a:off x="311699" y="961975"/>
            <a:ext cx="6016002" cy="34301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1"/>
          <p:cNvSpPr txBox="1"/>
          <p:nvPr>
            <p:ph type="title"/>
          </p:nvPr>
        </p:nvSpPr>
        <p:spPr>
          <a:xfrm>
            <a:off x="25325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Forward/Reverse Case</a:t>
            </a:r>
            <a:endParaRPr/>
          </a:p>
        </p:txBody>
      </p:sp>
      <p:pic>
        <p:nvPicPr>
          <p:cNvPr id="113" name="Google Shape;113;p21"/>
          <p:cNvPicPr preferRelativeResize="0"/>
          <p:nvPr/>
        </p:nvPicPr>
        <p:blipFill>
          <a:blip r:embed="rId3">
            <a:alphaModFix/>
          </a:blip>
          <a:stretch>
            <a:fillRect/>
          </a:stretch>
        </p:blipFill>
        <p:spPr>
          <a:xfrm>
            <a:off x="311699" y="1017725"/>
            <a:ext cx="1940000" cy="3749099"/>
          </a:xfrm>
          <a:prstGeom prst="rect">
            <a:avLst/>
          </a:prstGeom>
          <a:noFill/>
          <a:ln>
            <a:noFill/>
          </a:ln>
        </p:spPr>
      </p:pic>
      <p:cxnSp>
        <p:nvCxnSpPr>
          <p:cNvPr id="114" name="Google Shape;114;p21"/>
          <p:cNvCxnSpPr/>
          <p:nvPr/>
        </p:nvCxnSpPr>
        <p:spPr>
          <a:xfrm flipH="1" rot="10800000">
            <a:off x="1989650" y="2084900"/>
            <a:ext cx="888900" cy="1407600"/>
          </a:xfrm>
          <a:prstGeom prst="straightConnector1">
            <a:avLst/>
          </a:prstGeom>
          <a:noFill/>
          <a:ln cap="flat" cmpd="sng" w="9525">
            <a:solidFill>
              <a:schemeClr val="dk2"/>
            </a:solidFill>
            <a:prstDash val="solid"/>
            <a:round/>
            <a:headEnd len="med" w="med" type="none"/>
            <a:tailEnd len="med" w="med" type="triangle"/>
          </a:ln>
        </p:spPr>
      </p:cxnSp>
      <p:cxnSp>
        <p:nvCxnSpPr>
          <p:cNvPr id="115" name="Google Shape;115;p21"/>
          <p:cNvCxnSpPr/>
          <p:nvPr/>
        </p:nvCxnSpPr>
        <p:spPr>
          <a:xfrm>
            <a:off x="2169575" y="4148675"/>
            <a:ext cx="1841400" cy="0"/>
          </a:xfrm>
          <a:prstGeom prst="straightConnector1">
            <a:avLst/>
          </a:prstGeom>
          <a:noFill/>
          <a:ln cap="flat" cmpd="sng" w="9525">
            <a:solidFill>
              <a:schemeClr val="dk2"/>
            </a:solidFill>
            <a:prstDash val="solid"/>
            <a:round/>
            <a:headEnd len="med" w="med" type="none"/>
            <a:tailEnd len="med" w="med" type="triangle"/>
          </a:ln>
        </p:spPr>
      </p:cxnSp>
      <p:pic>
        <p:nvPicPr>
          <p:cNvPr id="116" name="Google Shape;116;p21"/>
          <p:cNvPicPr preferRelativeResize="0"/>
          <p:nvPr/>
        </p:nvPicPr>
        <p:blipFill>
          <a:blip r:embed="rId4">
            <a:alphaModFix/>
          </a:blip>
          <a:stretch>
            <a:fillRect/>
          </a:stretch>
        </p:blipFill>
        <p:spPr>
          <a:xfrm>
            <a:off x="3169675" y="1079425"/>
            <a:ext cx="1841399" cy="1305303"/>
          </a:xfrm>
          <a:prstGeom prst="rect">
            <a:avLst/>
          </a:prstGeom>
          <a:noFill/>
          <a:ln>
            <a:noFill/>
          </a:ln>
        </p:spPr>
      </p:pic>
      <p:pic>
        <p:nvPicPr>
          <p:cNvPr id="117" name="Google Shape;117;p21" title="Image (1).jpeg"/>
          <p:cNvPicPr preferRelativeResize="0"/>
          <p:nvPr/>
        </p:nvPicPr>
        <p:blipFill>
          <a:blip r:embed="rId5">
            <a:alphaModFix/>
          </a:blip>
          <a:stretch>
            <a:fillRect/>
          </a:stretch>
        </p:blipFill>
        <p:spPr>
          <a:xfrm>
            <a:off x="4010975" y="3170025"/>
            <a:ext cx="3886200" cy="17913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Flappy Bird</a:t>
            </a:r>
            <a:endParaRPr/>
          </a:p>
        </p:txBody>
      </p:sp>
      <p:sp>
        <p:nvSpPr>
          <p:cNvPr id="123" name="Google Shape;123;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Overview: I recreated flappy bird on an 8x8 LED display board. See here for demo!</a:t>
            </a:r>
            <a:endParaRPr/>
          </a:p>
        </p:txBody>
      </p:sp>
      <p:pic>
        <p:nvPicPr>
          <p:cNvPr id="124" name="Google Shape;124;p22" title="Flappy Bird LED Demo">
            <a:hlinkClick r:id="rId3"/>
          </p:cNvPr>
          <p:cNvPicPr preferRelativeResize="0"/>
          <p:nvPr/>
        </p:nvPicPr>
        <p:blipFill>
          <a:blip r:embed="rId4">
            <a:alphaModFix/>
          </a:blip>
          <a:stretch>
            <a:fillRect/>
          </a:stretch>
        </p:blipFill>
        <p:spPr>
          <a:xfrm>
            <a:off x="3802450" y="1810875"/>
            <a:ext cx="4986950" cy="2805150"/>
          </a:xfrm>
          <a:prstGeom prst="rect">
            <a:avLst/>
          </a:prstGeom>
          <a:noFill/>
          <a:ln>
            <a:noFill/>
          </a:ln>
        </p:spPr>
      </p:pic>
      <p:pic>
        <p:nvPicPr>
          <p:cNvPr id="125" name="Google Shape;125;p22"/>
          <p:cNvPicPr preferRelativeResize="0"/>
          <p:nvPr/>
        </p:nvPicPr>
        <p:blipFill>
          <a:blip r:embed="rId5">
            <a:alphaModFix/>
          </a:blip>
          <a:stretch>
            <a:fillRect/>
          </a:stretch>
        </p:blipFill>
        <p:spPr>
          <a:xfrm>
            <a:off x="311700" y="1810863"/>
            <a:ext cx="3150274" cy="30573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
                                        </p:tgtEl>
                                        <p:attrNameLst>
                                          <p:attrName>style.visibility</p:attrName>
                                        </p:attrNameLst>
                                      </p:cBhvr>
                                      <p:to>
                                        <p:strVal val="visible"/>
                                      </p:to>
                                    </p:set>
                                    <p:animEffect filter="fade" transition="in">
                                      <p:cBhvr>
                                        <p:cTn dur="1000"/>
                                        <p:tgtEl>
                                          <p:spTgt spid="1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Use of Program Duration</a:t>
            </a:r>
            <a:endParaRPr/>
          </a:p>
        </p:txBody>
      </p:sp>
      <p:sp>
        <p:nvSpPr>
          <p:cNvPr id="131" name="Google Shape;131;p23"/>
          <p:cNvSpPr txBox="1"/>
          <p:nvPr>
            <p:ph idx="1" type="body"/>
          </p:nvPr>
        </p:nvSpPr>
        <p:spPr>
          <a:xfrm>
            <a:off x="311700" y="101772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32" name="Google Shape;132;p23"/>
          <p:cNvPicPr preferRelativeResize="0"/>
          <p:nvPr/>
        </p:nvPicPr>
        <p:blipFill>
          <a:blip r:embed="rId3">
            <a:alphaModFix/>
          </a:blip>
          <a:stretch>
            <a:fillRect/>
          </a:stretch>
        </p:blipFill>
        <p:spPr>
          <a:xfrm>
            <a:off x="7039599" y="58300"/>
            <a:ext cx="2023599" cy="2663552"/>
          </a:xfrm>
          <a:prstGeom prst="rect">
            <a:avLst/>
          </a:prstGeom>
          <a:noFill/>
          <a:ln>
            <a:noFill/>
          </a:ln>
        </p:spPr>
      </p:pic>
      <p:pic>
        <p:nvPicPr>
          <p:cNvPr id="133" name="Google Shape;133;p23"/>
          <p:cNvPicPr preferRelativeResize="0"/>
          <p:nvPr/>
        </p:nvPicPr>
        <p:blipFill>
          <a:blip r:embed="rId4">
            <a:alphaModFix/>
          </a:blip>
          <a:stretch>
            <a:fillRect/>
          </a:stretch>
        </p:blipFill>
        <p:spPr>
          <a:xfrm>
            <a:off x="246099" y="1017725"/>
            <a:ext cx="3215549" cy="4144651"/>
          </a:xfrm>
          <a:prstGeom prst="rect">
            <a:avLst/>
          </a:prstGeom>
          <a:noFill/>
          <a:ln>
            <a:noFill/>
          </a:ln>
        </p:spPr>
      </p:pic>
      <p:sp>
        <p:nvSpPr>
          <p:cNvPr id="134" name="Google Shape;134;p23"/>
          <p:cNvSpPr/>
          <p:nvPr/>
        </p:nvSpPr>
        <p:spPr>
          <a:xfrm>
            <a:off x="447750" y="1033300"/>
            <a:ext cx="2273400" cy="2526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 name="Google Shape;135;p23"/>
          <p:cNvSpPr/>
          <p:nvPr/>
        </p:nvSpPr>
        <p:spPr>
          <a:xfrm>
            <a:off x="496825" y="1851600"/>
            <a:ext cx="2023500" cy="7662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6" name="Google Shape;136;p23"/>
          <p:cNvSpPr/>
          <p:nvPr/>
        </p:nvSpPr>
        <p:spPr>
          <a:xfrm>
            <a:off x="496825" y="2853600"/>
            <a:ext cx="3073800" cy="21867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7" name="Google Shape;137;p23"/>
          <p:cNvSpPr txBox="1"/>
          <p:nvPr/>
        </p:nvSpPr>
        <p:spPr>
          <a:xfrm>
            <a:off x="2604363" y="1851600"/>
            <a:ext cx="4351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FF0000"/>
                </a:solidFill>
              </a:rPr>
              <a:t>&lt;- Find the column with LED lights on</a:t>
            </a:r>
            <a:endParaRPr sz="1800">
              <a:solidFill>
                <a:srgbClr val="FF0000"/>
              </a:solidFill>
            </a:endParaRPr>
          </a:p>
        </p:txBody>
      </p:sp>
      <p:sp>
        <p:nvSpPr>
          <p:cNvPr id="138" name="Google Shape;138;p23"/>
          <p:cNvSpPr txBox="1"/>
          <p:nvPr/>
        </p:nvSpPr>
        <p:spPr>
          <a:xfrm>
            <a:off x="4052800" y="2973575"/>
            <a:ext cx="46038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FF0000"/>
                </a:solidFill>
              </a:rPr>
              <a:t>&lt;- Turn every LED that represents a pipe off. Set alive to false if a the bird happens to collide with the pipe </a:t>
            </a:r>
            <a:endParaRPr sz="1800">
              <a:solidFill>
                <a:srgbClr val="FF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Use of Program Duration</a:t>
            </a:r>
            <a:endParaRPr/>
          </a:p>
        </p:txBody>
      </p:sp>
      <p:sp>
        <p:nvSpPr>
          <p:cNvPr id="144" name="Google Shape;144;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45" name="Google Shape;145;p24"/>
          <p:cNvPicPr preferRelativeResize="0"/>
          <p:nvPr/>
        </p:nvPicPr>
        <p:blipFill rotWithShape="1">
          <a:blip r:embed="rId3">
            <a:alphaModFix/>
          </a:blip>
          <a:srcRect b="0" l="0" r="31253" t="0"/>
          <a:stretch/>
        </p:blipFill>
        <p:spPr>
          <a:xfrm>
            <a:off x="238125" y="1152475"/>
            <a:ext cx="8349696" cy="3991025"/>
          </a:xfrm>
          <a:prstGeom prst="rect">
            <a:avLst/>
          </a:prstGeom>
          <a:noFill/>
          <a:ln>
            <a:noFill/>
          </a:ln>
        </p:spPr>
      </p:pic>
      <p:sp>
        <p:nvSpPr>
          <p:cNvPr id="146" name="Google Shape;146;p24"/>
          <p:cNvSpPr txBox="1"/>
          <p:nvPr/>
        </p:nvSpPr>
        <p:spPr>
          <a:xfrm>
            <a:off x="3085475" y="2571750"/>
            <a:ext cx="4747800" cy="1569900"/>
          </a:xfrm>
          <a:prstGeom prst="rect">
            <a:avLst/>
          </a:prstGeom>
          <a:noFill/>
          <a:ln>
            <a:noFill/>
          </a:ln>
        </p:spPr>
        <p:txBody>
          <a:bodyPr anchorCtr="0" anchor="t" bIns="91425" lIns="91425" spcFirstLastPara="1" rIns="91425" wrap="square" tIns="91425">
            <a:spAutoFit/>
          </a:bodyPr>
          <a:lstStyle/>
          <a:p>
            <a:pPr indent="457200" lvl="0" marL="0" rtl="0" algn="l">
              <a:spcBef>
                <a:spcPts val="0"/>
              </a:spcBef>
              <a:spcAft>
                <a:spcPts val="0"/>
              </a:spcAft>
              <a:buNone/>
            </a:pPr>
            <a:r>
              <a:rPr lang="en" sz="1800">
                <a:solidFill>
                  <a:srgbClr val="FF0000"/>
                </a:solidFill>
                <a:latin typeface="Calibri"/>
                <a:ea typeface="Calibri"/>
                <a:cs typeface="Calibri"/>
                <a:sym typeface="Calibri"/>
              </a:rPr>
              <a:t>If the bird happens to be at the same location of the star when the program tries to remove the column instead of </a:t>
            </a:r>
            <a:r>
              <a:rPr lang="en" sz="1800">
                <a:solidFill>
                  <a:srgbClr val="FF0000"/>
                </a:solidFill>
                <a:latin typeface="Calibri"/>
                <a:ea typeface="Calibri"/>
                <a:cs typeface="Calibri"/>
                <a:sym typeface="Calibri"/>
              </a:rPr>
              <a:t>removing</a:t>
            </a:r>
            <a:r>
              <a:rPr lang="en" sz="1800">
                <a:solidFill>
                  <a:srgbClr val="FF0000"/>
                </a:solidFill>
                <a:latin typeface="Calibri"/>
                <a:ea typeface="Calibri"/>
                <a:cs typeface="Calibri"/>
                <a:sym typeface="Calibri"/>
              </a:rPr>
              <a:t> the star, stars(the number of stars the user obtains through out the game) gets increased by 1</a:t>
            </a:r>
            <a:endParaRPr sz="1800">
              <a:solidFill>
                <a:srgbClr val="FF0000"/>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Use of Randomness</a:t>
            </a:r>
            <a:endParaRPr/>
          </a:p>
        </p:txBody>
      </p:sp>
      <p:sp>
        <p:nvSpPr>
          <p:cNvPr id="152" name="Google Shape;152;p2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153" name="Google Shape;153;p2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54" name="Google Shape;154;p25"/>
          <p:cNvPicPr preferRelativeResize="0"/>
          <p:nvPr/>
        </p:nvPicPr>
        <p:blipFill>
          <a:blip r:embed="rId3">
            <a:alphaModFix/>
          </a:blip>
          <a:stretch>
            <a:fillRect/>
          </a:stretch>
        </p:blipFill>
        <p:spPr>
          <a:xfrm>
            <a:off x="4767475" y="313000"/>
            <a:ext cx="2965550" cy="4830501"/>
          </a:xfrm>
          <a:prstGeom prst="rect">
            <a:avLst/>
          </a:prstGeom>
          <a:noFill/>
          <a:ln>
            <a:noFill/>
          </a:ln>
        </p:spPr>
      </p:pic>
      <p:pic>
        <p:nvPicPr>
          <p:cNvPr descr="This video was made with Clipchamp" id="155" name="Google Shape;155;p25" title="Random Demo">
            <a:hlinkClick r:id="rId4"/>
          </p:cNvPr>
          <p:cNvPicPr preferRelativeResize="0"/>
          <p:nvPr/>
        </p:nvPicPr>
        <p:blipFill>
          <a:blip r:embed="rId5">
            <a:alphaModFix/>
          </a:blip>
          <a:stretch>
            <a:fillRect/>
          </a:stretch>
        </p:blipFill>
        <p:spPr>
          <a:xfrm>
            <a:off x="311700" y="1152475"/>
            <a:ext cx="3048000" cy="1714500"/>
          </a:xfrm>
          <a:prstGeom prst="rect">
            <a:avLst/>
          </a:prstGeom>
          <a:noFill/>
          <a:ln>
            <a:noFill/>
          </a:ln>
        </p:spPr>
      </p:pic>
      <p:pic>
        <p:nvPicPr>
          <p:cNvPr id="156" name="Google Shape;156;p25"/>
          <p:cNvPicPr preferRelativeResize="0"/>
          <p:nvPr/>
        </p:nvPicPr>
        <p:blipFill>
          <a:blip r:embed="rId6">
            <a:alphaModFix/>
          </a:blip>
          <a:stretch>
            <a:fillRect/>
          </a:stretch>
        </p:blipFill>
        <p:spPr>
          <a:xfrm>
            <a:off x="2456575" y="2266691"/>
            <a:ext cx="2310900" cy="258455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55"/>
                                        </p:tgtEl>
                                        <p:attrNameLst>
                                          <p:attrName>style.visibility</p:attrName>
                                        </p:attrNameLst>
                                      </p:cBhvr>
                                      <p:to>
                                        <p:strVal val="visible"/>
                                      </p:to>
                                    </p:set>
                                    <p:animEffect filter="fade" transition="in">
                                      <p:cBhvr>
                                        <p:cTn dur="1000"/>
                                        <p:tgtEl>
                                          <p:spTgt spid="1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Guess the Picture with Python</a:t>
            </a:r>
            <a:endParaRPr/>
          </a:p>
        </p:txBody>
      </p:sp>
      <p:sp>
        <p:nvSpPr>
          <p:cNvPr id="162" name="Google Shape;162;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Overview: This code reveals one small section of a picture per round to a user </a:t>
            </a:r>
            <a:r>
              <a:rPr lang="en"/>
              <a:t>who tries</a:t>
            </a:r>
            <a:r>
              <a:rPr lang="en"/>
              <a:t> to guess what</a:t>
            </a:r>
            <a:r>
              <a:rPr lang="en"/>
              <a:t> is depicted in the picture. The code makes an API call to ChatGPT to verify the user’s answers. This helps account for the variability of user’s responses that may not exactly match the answer given by the coder. The demo on the next page shows a version of the game without the API call because I currently out of tokens which are needed to make the API call.</a:t>
            </a:r>
            <a:endParaRPr/>
          </a:p>
          <a:p>
            <a:pPr indent="0" lvl="0" marL="0" rtl="0" algn="l">
              <a:spcBef>
                <a:spcPts val="1200"/>
              </a:spcBef>
              <a:spcAft>
                <a:spcPts val="120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Game Demo</a:t>
            </a:r>
            <a:endParaRPr/>
          </a:p>
        </p:txBody>
      </p:sp>
      <p:pic>
        <p:nvPicPr>
          <p:cNvPr id="168" name="Google Shape;168;p27" title="Guess the Picture Demo">
            <a:hlinkClick r:id="rId3"/>
          </p:cNvPr>
          <p:cNvPicPr preferRelativeResize="0"/>
          <p:nvPr/>
        </p:nvPicPr>
        <p:blipFill>
          <a:blip r:embed="rId4">
            <a:alphaModFix/>
          </a:blip>
          <a:stretch>
            <a:fillRect/>
          </a:stretch>
        </p:blipFill>
        <p:spPr>
          <a:xfrm>
            <a:off x="1036938" y="1017725"/>
            <a:ext cx="7070125" cy="39769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Using the API Call</a:t>
            </a:r>
            <a:endParaRPr/>
          </a:p>
        </p:txBody>
      </p:sp>
      <p:pic>
        <p:nvPicPr>
          <p:cNvPr id="174" name="Google Shape;174;p28"/>
          <p:cNvPicPr preferRelativeResize="0"/>
          <p:nvPr/>
        </p:nvPicPr>
        <p:blipFill>
          <a:blip r:embed="rId3">
            <a:alphaModFix/>
          </a:blip>
          <a:stretch>
            <a:fillRect/>
          </a:stretch>
        </p:blipFill>
        <p:spPr>
          <a:xfrm>
            <a:off x="156150" y="2226263"/>
            <a:ext cx="2799525" cy="774075"/>
          </a:xfrm>
          <a:prstGeom prst="rect">
            <a:avLst/>
          </a:prstGeom>
          <a:noFill/>
          <a:ln>
            <a:noFill/>
          </a:ln>
        </p:spPr>
      </p:pic>
      <p:pic>
        <p:nvPicPr>
          <p:cNvPr id="175" name="Google Shape;175;p28"/>
          <p:cNvPicPr preferRelativeResize="0"/>
          <p:nvPr/>
        </p:nvPicPr>
        <p:blipFill>
          <a:blip r:embed="rId4">
            <a:alphaModFix/>
          </a:blip>
          <a:stretch>
            <a:fillRect/>
          </a:stretch>
        </p:blipFill>
        <p:spPr>
          <a:xfrm>
            <a:off x="156150" y="1017725"/>
            <a:ext cx="4495100" cy="364125"/>
          </a:xfrm>
          <a:prstGeom prst="rect">
            <a:avLst/>
          </a:prstGeom>
          <a:noFill/>
          <a:ln>
            <a:noFill/>
          </a:ln>
        </p:spPr>
      </p:pic>
      <p:pic>
        <p:nvPicPr>
          <p:cNvPr id="176" name="Google Shape;176;p28"/>
          <p:cNvPicPr preferRelativeResize="0"/>
          <p:nvPr/>
        </p:nvPicPr>
        <p:blipFill>
          <a:blip r:embed="rId5">
            <a:alphaModFix/>
          </a:blip>
          <a:stretch>
            <a:fillRect/>
          </a:stretch>
        </p:blipFill>
        <p:spPr>
          <a:xfrm>
            <a:off x="78625" y="3844750"/>
            <a:ext cx="8520601" cy="264545"/>
          </a:xfrm>
          <a:prstGeom prst="rect">
            <a:avLst/>
          </a:prstGeom>
          <a:noFill/>
          <a:ln>
            <a:noFill/>
          </a:ln>
        </p:spPr>
      </p:pic>
      <p:cxnSp>
        <p:nvCxnSpPr>
          <p:cNvPr id="177" name="Google Shape;177;p28"/>
          <p:cNvCxnSpPr/>
          <p:nvPr/>
        </p:nvCxnSpPr>
        <p:spPr>
          <a:xfrm>
            <a:off x="4740250" y="1262725"/>
            <a:ext cx="897300" cy="653400"/>
          </a:xfrm>
          <a:prstGeom prst="straightConnector1">
            <a:avLst/>
          </a:prstGeom>
          <a:noFill/>
          <a:ln cap="flat" cmpd="sng" w="9525">
            <a:solidFill>
              <a:srgbClr val="FF0000"/>
            </a:solidFill>
            <a:prstDash val="solid"/>
            <a:round/>
            <a:headEnd len="med" w="med" type="none"/>
            <a:tailEnd len="med" w="med" type="triangle"/>
          </a:ln>
        </p:spPr>
      </p:cxnSp>
      <p:sp>
        <p:nvSpPr>
          <p:cNvPr id="178" name="Google Shape;178;p28"/>
          <p:cNvSpPr txBox="1"/>
          <p:nvPr/>
        </p:nvSpPr>
        <p:spPr>
          <a:xfrm>
            <a:off x="5870050" y="1553725"/>
            <a:ext cx="28797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FF0000"/>
                </a:solidFill>
              </a:rPr>
              <a:t>Create an image object by passing in the answer for the current picture in play</a:t>
            </a:r>
            <a:endParaRPr sz="1800">
              <a:solidFill>
                <a:srgbClr val="FF0000"/>
              </a:solidFill>
            </a:endParaRPr>
          </a:p>
        </p:txBody>
      </p:sp>
      <p:cxnSp>
        <p:nvCxnSpPr>
          <p:cNvPr id="179" name="Google Shape;179;p28"/>
          <p:cNvCxnSpPr/>
          <p:nvPr/>
        </p:nvCxnSpPr>
        <p:spPr>
          <a:xfrm flipH="1" rot="10800000">
            <a:off x="3256225" y="2181925"/>
            <a:ext cx="2403300" cy="387600"/>
          </a:xfrm>
          <a:prstGeom prst="straightConnector1">
            <a:avLst/>
          </a:prstGeom>
          <a:noFill/>
          <a:ln cap="flat" cmpd="sng" w="9525">
            <a:solidFill>
              <a:srgbClr val="FF0000"/>
            </a:solidFill>
            <a:prstDash val="solid"/>
            <a:round/>
            <a:headEnd len="med" w="med" type="none"/>
            <a:tailEnd len="med" w="med" type="triangle"/>
          </a:ln>
        </p:spPr>
      </p:cxnSp>
      <p:sp>
        <p:nvSpPr>
          <p:cNvPr id="180" name="Google Shape;180;p28"/>
          <p:cNvSpPr txBox="1"/>
          <p:nvPr/>
        </p:nvSpPr>
        <p:spPr>
          <a:xfrm>
            <a:off x="5271975" y="361925"/>
            <a:ext cx="3560400" cy="10158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rgbClr val="1EBDCE"/>
              </a:buClr>
              <a:buSzPts val="1800"/>
              <a:buChar char="-"/>
            </a:pPr>
            <a:r>
              <a:rPr lang="en" sz="1800">
                <a:solidFill>
                  <a:srgbClr val="1EBDCE"/>
                </a:solidFill>
              </a:rPr>
              <a:t>Code in Guess the Image.py (main program)</a:t>
            </a:r>
            <a:endParaRPr sz="1800">
              <a:solidFill>
                <a:srgbClr val="1EBDCE"/>
              </a:solidFill>
            </a:endParaRPr>
          </a:p>
          <a:p>
            <a:pPr indent="-342900" lvl="0" marL="457200" rtl="0" algn="l">
              <a:spcBef>
                <a:spcPts val="0"/>
              </a:spcBef>
              <a:spcAft>
                <a:spcPts val="0"/>
              </a:spcAft>
              <a:buClr>
                <a:srgbClr val="066974"/>
              </a:buClr>
              <a:buSzPts val="1800"/>
              <a:buChar char="-"/>
            </a:pPr>
            <a:r>
              <a:rPr lang="en" sz="1800">
                <a:solidFill>
                  <a:srgbClr val="066974"/>
                </a:solidFill>
              </a:rPr>
              <a:t>Code in TypeImage.py</a:t>
            </a:r>
            <a:endParaRPr sz="1800">
              <a:solidFill>
                <a:srgbClr val="066974"/>
              </a:solidFill>
            </a:endParaRPr>
          </a:p>
        </p:txBody>
      </p:sp>
      <p:cxnSp>
        <p:nvCxnSpPr>
          <p:cNvPr id="181" name="Google Shape;181;p28"/>
          <p:cNvCxnSpPr/>
          <p:nvPr/>
        </p:nvCxnSpPr>
        <p:spPr>
          <a:xfrm flipH="1">
            <a:off x="4097925" y="4208725"/>
            <a:ext cx="1517400" cy="321300"/>
          </a:xfrm>
          <a:prstGeom prst="straightConnector1">
            <a:avLst/>
          </a:prstGeom>
          <a:noFill/>
          <a:ln cap="flat" cmpd="sng" w="9525">
            <a:solidFill>
              <a:schemeClr val="dk2"/>
            </a:solidFill>
            <a:prstDash val="solid"/>
            <a:round/>
            <a:headEnd len="med" w="med" type="none"/>
            <a:tailEnd len="med" w="med" type="triangle"/>
          </a:ln>
        </p:spPr>
      </p:cxnSp>
      <p:sp>
        <p:nvSpPr>
          <p:cNvPr id="182" name="Google Shape;182;p28"/>
          <p:cNvSpPr txBox="1"/>
          <p:nvPr/>
        </p:nvSpPr>
        <p:spPr>
          <a:xfrm>
            <a:off x="1171050" y="4629450"/>
            <a:ext cx="8833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FF0000"/>
                </a:solidFill>
              </a:rPr>
              <a:t>Calling the method get_answer_validation in TypeImage.py</a:t>
            </a:r>
            <a:endParaRPr sz="1800">
              <a:solidFill>
                <a:srgbClr val="FF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Using the API Call</a:t>
            </a:r>
            <a:endParaRPr/>
          </a:p>
          <a:p>
            <a:pPr indent="0" lvl="0" marL="0" rtl="0" algn="l">
              <a:spcBef>
                <a:spcPts val="0"/>
              </a:spcBef>
              <a:spcAft>
                <a:spcPts val="0"/>
              </a:spcAft>
              <a:buNone/>
            </a:pPr>
            <a:r>
              <a:t/>
            </a:r>
            <a:endParaRPr/>
          </a:p>
        </p:txBody>
      </p:sp>
      <p:pic>
        <p:nvPicPr>
          <p:cNvPr id="188" name="Google Shape;188;p29"/>
          <p:cNvPicPr preferRelativeResize="0"/>
          <p:nvPr/>
        </p:nvPicPr>
        <p:blipFill rotWithShape="1">
          <a:blip r:embed="rId3">
            <a:alphaModFix/>
          </a:blip>
          <a:srcRect b="0" l="0" r="29359" t="0"/>
          <a:stretch/>
        </p:blipFill>
        <p:spPr>
          <a:xfrm>
            <a:off x="0" y="1017725"/>
            <a:ext cx="9144003" cy="2414420"/>
          </a:xfrm>
          <a:prstGeom prst="rect">
            <a:avLst/>
          </a:prstGeom>
          <a:noFill/>
          <a:ln>
            <a:noFill/>
          </a:ln>
        </p:spPr>
      </p:pic>
      <p:cxnSp>
        <p:nvCxnSpPr>
          <p:cNvPr id="189" name="Google Shape;189;p29"/>
          <p:cNvCxnSpPr/>
          <p:nvPr/>
        </p:nvCxnSpPr>
        <p:spPr>
          <a:xfrm rot="10800000">
            <a:off x="8417450" y="2101050"/>
            <a:ext cx="11100" cy="941400"/>
          </a:xfrm>
          <a:prstGeom prst="straightConnector1">
            <a:avLst/>
          </a:prstGeom>
          <a:noFill/>
          <a:ln cap="flat" cmpd="sng" w="9525">
            <a:solidFill>
              <a:srgbClr val="FF0000"/>
            </a:solidFill>
            <a:prstDash val="solid"/>
            <a:round/>
            <a:headEnd len="med" w="med" type="none"/>
            <a:tailEnd len="med" w="med" type="triangle"/>
          </a:ln>
        </p:spPr>
      </p:cxnSp>
      <p:sp>
        <p:nvSpPr>
          <p:cNvPr id="190" name="Google Shape;190;p29"/>
          <p:cNvSpPr txBox="1"/>
          <p:nvPr/>
        </p:nvSpPr>
        <p:spPr>
          <a:xfrm>
            <a:off x="7625600" y="3300550"/>
            <a:ext cx="1594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FF0000"/>
                </a:solidFill>
              </a:rPr>
              <a:t>User guess</a:t>
            </a:r>
            <a:endParaRPr sz="1800">
              <a:solidFill>
                <a:srgbClr val="FF0000"/>
              </a:solidFill>
            </a:endParaRPr>
          </a:p>
        </p:txBody>
      </p:sp>
      <p:sp>
        <p:nvSpPr>
          <p:cNvPr id="191" name="Google Shape;191;p29"/>
          <p:cNvSpPr/>
          <p:nvPr/>
        </p:nvSpPr>
        <p:spPr>
          <a:xfrm>
            <a:off x="7985500" y="1827475"/>
            <a:ext cx="686700" cy="2736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2" name="Google Shape;192;p29"/>
          <p:cNvSpPr/>
          <p:nvPr/>
        </p:nvSpPr>
        <p:spPr>
          <a:xfrm>
            <a:off x="5767725" y="1827475"/>
            <a:ext cx="1276500" cy="2736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93" name="Google Shape;193;p29"/>
          <p:cNvCxnSpPr/>
          <p:nvPr/>
        </p:nvCxnSpPr>
        <p:spPr>
          <a:xfrm flipH="1" rot="10800000">
            <a:off x="6313075" y="2292750"/>
            <a:ext cx="11100" cy="1139400"/>
          </a:xfrm>
          <a:prstGeom prst="straightConnector1">
            <a:avLst/>
          </a:prstGeom>
          <a:noFill/>
          <a:ln cap="flat" cmpd="sng" w="9525">
            <a:solidFill>
              <a:srgbClr val="FF0000"/>
            </a:solidFill>
            <a:prstDash val="solid"/>
            <a:round/>
            <a:headEnd len="med" w="med" type="none"/>
            <a:tailEnd len="med" w="med" type="triangle"/>
          </a:ln>
        </p:spPr>
      </p:cxnSp>
      <p:sp>
        <p:nvSpPr>
          <p:cNvPr id="194" name="Google Shape;194;p29"/>
          <p:cNvSpPr txBox="1"/>
          <p:nvPr/>
        </p:nvSpPr>
        <p:spPr>
          <a:xfrm>
            <a:off x="5172175" y="3621725"/>
            <a:ext cx="2913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FF0000"/>
                </a:solidFill>
              </a:rPr>
              <a:t>Correct answer</a:t>
            </a:r>
            <a:endParaRPr sz="1800">
              <a:solidFill>
                <a:srgbClr val="FF0000"/>
              </a:solidFill>
            </a:endParaRPr>
          </a:p>
        </p:txBody>
      </p:sp>
      <p:cxnSp>
        <p:nvCxnSpPr>
          <p:cNvPr id="195" name="Google Shape;195;p29"/>
          <p:cNvCxnSpPr/>
          <p:nvPr/>
        </p:nvCxnSpPr>
        <p:spPr>
          <a:xfrm rot="10800000">
            <a:off x="1584400" y="3271975"/>
            <a:ext cx="686100" cy="460500"/>
          </a:xfrm>
          <a:prstGeom prst="straightConnector1">
            <a:avLst/>
          </a:prstGeom>
          <a:noFill/>
          <a:ln cap="flat" cmpd="sng" w="9525">
            <a:solidFill>
              <a:srgbClr val="FF0000"/>
            </a:solidFill>
            <a:prstDash val="solid"/>
            <a:round/>
            <a:headEnd len="med" w="med" type="none"/>
            <a:tailEnd len="med" w="med" type="triangle"/>
          </a:ln>
        </p:spPr>
      </p:cxnSp>
      <p:sp>
        <p:nvSpPr>
          <p:cNvPr id="196" name="Google Shape;196;p29"/>
          <p:cNvSpPr txBox="1"/>
          <p:nvPr/>
        </p:nvSpPr>
        <p:spPr>
          <a:xfrm>
            <a:off x="1118625" y="3920750"/>
            <a:ext cx="5797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FF0000"/>
                </a:solidFill>
              </a:rPr>
              <a:t>Return whether or not the user’s guess is valid</a:t>
            </a:r>
            <a:endParaRPr sz="1800">
              <a:solidFill>
                <a:srgbClr val="FF0000"/>
              </a:solidFill>
            </a:endParaRPr>
          </a:p>
        </p:txBody>
      </p:sp>
      <p:sp>
        <p:nvSpPr>
          <p:cNvPr id="197" name="Google Shape;197;p29"/>
          <p:cNvSpPr/>
          <p:nvPr/>
        </p:nvSpPr>
        <p:spPr>
          <a:xfrm>
            <a:off x="367400" y="3008025"/>
            <a:ext cx="1113600" cy="572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0"/>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Thank You!</a:t>
            </a:r>
            <a:endParaRPr/>
          </a:p>
        </p:txBody>
      </p:sp>
      <p:sp>
        <p:nvSpPr>
          <p:cNvPr id="203" name="Google Shape;203;p30"/>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